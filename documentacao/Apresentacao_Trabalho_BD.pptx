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Georgia"/>
              </a:rPr>
              <a:t>Sistema de Gestão de Horários de Disciplinas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Modelagem e implementação de banco de dados para alocação de horários do curso de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120640"/>
            <a:ext cx="10332720" cy="4821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dirty="0" err="1">
                <a:solidFill>
                  <a:srgbClr val="CADCFC"/>
                </a:solidFill>
                <a:latin typeface="Calibri"/>
              </a:rPr>
              <a:t>Trabalho</a:t>
            </a:r>
            <a:r>
              <a:rPr sz="1500" b="0" dirty="0">
                <a:solidFill>
                  <a:srgbClr val="CADCFC"/>
                </a:solidFill>
                <a:latin typeface="Calibri"/>
              </a:rPr>
              <a:t> Final — Banco de Dados — 1/2026</a:t>
            </a:r>
          </a:p>
          <a:p>
            <a:pPr algn="ctr">
              <a:spcAft>
                <a:spcPts val="600"/>
              </a:spcAft>
            </a:pPr>
            <a:r>
              <a:rPr sz="1300" b="0" dirty="0">
                <a:solidFill>
                  <a:srgbClr val="CADCFC"/>
                </a:solidFill>
                <a:latin typeface="Calibri"/>
              </a:rPr>
              <a:t>PUC Minas · ICEI · </a:t>
            </a:r>
            <a:r>
              <a:rPr lang="pt-BR" sz="1300" b="0" dirty="0">
                <a:solidFill>
                  <a:srgbClr val="CADCFC"/>
                </a:solidFill>
                <a:latin typeface="Calibri"/>
              </a:rPr>
              <a:t>Sistemas de </a:t>
            </a:r>
            <a:r>
              <a:rPr lang="pt-BR" sz="1300" b="0" dirty="0" err="1">
                <a:solidFill>
                  <a:srgbClr val="CADCFC"/>
                </a:solidFill>
                <a:latin typeface="Calibri"/>
              </a:rPr>
              <a:t>Informaçõ</a:t>
            </a:r>
            <a:endParaRPr sz="1300" b="0" dirty="0">
              <a:solidFill>
                <a:srgbClr val="CADCF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O problema: montar a grade de horários do 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Um problema clássico de alocação de recursos com restrições (timetabling)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655064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1 professor por disciplina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Calibri"/>
              </a:rPr>
              <a:t>cada disciplina é ministrada por exatamente um professor habilitado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615184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Sem choque de período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Calibri"/>
              </a:rPr>
              <a:t>disciplinas do mesmo período não podem ocupar o mesmo horário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575304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Professor sem ubiquidade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Calibri"/>
              </a:rPr>
              <a:t>um professor não pode estar em duas salas ao mesmo tempo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572000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35424"/>
            <a:ext cx="56692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2 horários por dia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Calibri"/>
              </a:rPr>
              <a:t>5 dias × 2 slots = apenas 10 horários disponíveis na semana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737360"/>
            <a:ext cx="4114800" cy="356616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057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2761"/>
                </a:solidFill>
                <a:latin typeface="Calibri"/>
              </a:rPr>
              <a:t>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560320"/>
            <a:ext cx="3657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Maximizar o número de disciplinas em paralelo — compactar a grade aproveitando ao máximo cada horário, sem violar nenhuma restrição.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2062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20 disciplinas · 8 professores · 6 salas · 10 horários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Linhas gerais da solução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10312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385316" y="23957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017520"/>
            <a:ext cx="19293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Modelagem conceitual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3657600"/>
            <a:ext cx="18928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DER com 12 entidades + diagrama de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8064" y="210312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80460" y="23957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3017520"/>
            <a:ext cx="19293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Modelo lógico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657600"/>
            <a:ext cx="18928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13 tabelas normalizadas (3FN)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3208" y="210312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975604" y="23957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2936" y="3017520"/>
            <a:ext cx="19293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Modelo físico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3657600"/>
            <a:ext cx="18928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DDL T-SQL: PKs, FKs, UNIQUE, CHECK e 2 triggers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210312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70748" y="23957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3017520"/>
            <a:ext cx="19293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Consultas 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3657600"/>
            <a:ext cx="18928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12 consultas + 2 visões (≥ 3 tabelas cada)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3496" y="2103120"/>
            <a:ext cx="2148840" cy="228600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65892" y="2395728"/>
            <a:ext cx="384048" cy="38404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93224" y="3017520"/>
            <a:ext cx="1929384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Algoritmo + aplicação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3657600"/>
            <a:ext cx="18928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coloração de grafos + Flask conectado ao SQL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SGBD: Microsoft SQL Server   ·   Aplicação: Python + Flask + pyodbc   ·   Interface: HTML/Jinja2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Modelagem conceitual — DER</a:t>
            </a:r>
          </a:p>
        </p:txBody>
      </p:sp>
      <p:pic>
        <p:nvPicPr>
          <p:cNvPr id="3" name="Picture 2" descr="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11430000" cy="272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ALOCACAO é o núcleo do modelo: entidade associativa que liga DISCIPLINA, PROFESSOR, HORARIO, SALA e SEMESTRE_LETIVO — representa uma "aula publicada" na grade.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USUARIO generaliza PROFESSOR e ALUNO (especializações 1:1) · HORARIO pertence a um DIA_SEMANA com slot 1 ou 2 (regra dos 2 horários/dia).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Qualidade da modelagem: 3 decisões centrais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3703320" cy="402336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Calibri"/>
              </a:rPr>
              <a:t>Habilitação ≠ Alocação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32461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PROFESSOR_DISCIPLINA registra quem PODE ministrar (capacidade, vale sempre). ALOCACAO registra quem MINISTRA, onde e quando (decisão do semestre). Fatos diferentes → tabelas diferentes.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783080"/>
            <a:ext cx="3703320" cy="402336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9432" y="20574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Calibri"/>
              </a:rPr>
              <a:t>Herança mapeada com 1:1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2" y="2880360"/>
            <a:ext cx="32461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PROFESSOR e ALUNO têm FK com UNIQUE para USUARIO: dados comuns (nome, login, senha) existem uma única vez. Sem redundância, sem anomalias de atualização.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38744" y="1783080"/>
            <a:ext cx="3703320" cy="402336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67344" y="2057400"/>
            <a:ext cx="3246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Calibri"/>
              </a:rPr>
              <a:t>Restrições viram 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344" y="2880360"/>
            <a:ext cx="32461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"2 horários por dia" virou UQ(id_dia, slot) com CHECK slot IN (1,2). "1 professor por disciplina" virou UQ(id_disciplina, id_semestre) em ALOCACAO. A regra de negócio está no esquema, não só no código.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Modelo lógico: 13 tabelas na 3ª Forma Normal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37360"/>
            <a:ext cx="3703320" cy="310896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Georgia"/>
              </a:rPr>
              <a:t>1FN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Calibri"/>
              </a:rPr>
              <a:t>Atributos atômicos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Calibri"/>
              </a:rPr>
              <a:t>Nenhum campo multivalorado ou composto. Dias e horários são linhas de tabelas próprias (dia_semana, horario), não listas em texto.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737360"/>
            <a:ext cx="3703320" cy="310896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9432" y="196596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Georgia"/>
              </a:rPr>
              <a:t>2FN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69748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Calibri"/>
              </a:rPr>
              <a:t>Sem dependência parcial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3200400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Calibri"/>
              </a:rPr>
              <a:t>A única chave composta é a de professor_disciplina — que não possui atributos fora da chave. Nada depende de "metade" de uma chave.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38744" y="1737360"/>
            <a:ext cx="3703320" cy="310896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67344" y="1965960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Georgia"/>
              </a:rPr>
              <a:t>3FN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269748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212121"/>
                </a:solidFill>
                <a:latin typeface="Calibri"/>
              </a:rPr>
              <a:t>Sem dependência transitiva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200400"/>
            <a:ext cx="32461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Calibri"/>
              </a:rPr>
              <a:t>Nome do professor só em usuario; período da disciplina só em disciplina; capacidade só em sala. Nada descritivo é repetido em alocacao.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1E2761"/>
                </a:solidFill>
                <a:latin typeface="Consolas"/>
              </a:rPr>
              <a:t>usuario · curso · periodo · disciplina · professor · professor_disciplina · semestre_letivo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1E2761"/>
                </a:solidFill>
                <a:latin typeface="Consolas"/>
              </a:rPr>
              <a:t>dia_semana · horario · sala · aluno · alocacao · matricula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Modelo físico: ALOCACAO concentra as regras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Cada UNIQUE materializa uma regra do enunciado — o SGBD bloqueia o conflito, não o programador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6949440" cy="448056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64592" bIns="109728" rtlCol="0" anchor="t"/>
          <a:lstStyle/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CREATE TABLE alocacao (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id_alocacao    INT IDENTITY(1,1) NOT NULL,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id_disciplina  INT NOT NULL,  -- FK disciplina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id_professor   INT NOT NULL,  -- FK professor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id_horario     INT NOT NULL,  -- FK horario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id_sala        INT NOT NULL,  -- FK sala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id_semestre    INT NOT NULL,  -- FK semestre_letivo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...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CONSTRAINT uq_aloc_disciplina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  UNIQUE (id_disciplina, id_semestre),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CONSTRAINT uq_aloc_professor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  UNIQUE (id_professor, id_horario, id_semestre),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CONSTRAINT uq_aloc_sala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    UNIQUE (id_sala, id_horario, id_semestre)</a:t>
            </a:r>
          </a:p>
          <a:p>
            <a:pPr algn="l">
              <a:spcAft>
                <a:spcPts val="0"/>
              </a:spcAft>
            </a:pPr>
            <a:r>
              <a:rPr sz="1250">
                <a:solidFill>
                  <a:srgbClr val="212121"/>
                </a:solidFill>
                <a:latin typeface="Consolas"/>
              </a:rPr>
              <a:t>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920240"/>
            <a:ext cx="4023360" cy="1143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82127" y="2048256"/>
            <a:ext cx="362102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E2761"/>
                </a:solidFill>
                <a:latin typeface="Consolas"/>
              </a:rPr>
              <a:t>UQ(disciplina, semestre)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uma disciplina tem um único professor — uma só alocação por semestre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3218688"/>
            <a:ext cx="4023360" cy="1143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82127" y="3346704"/>
            <a:ext cx="362102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E2761"/>
                </a:solidFill>
                <a:latin typeface="Consolas"/>
              </a:rPr>
              <a:t>UQ(professor, horário, semestre)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professor não pode estar em dois lugares ao mesmo tempo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4517136"/>
            <a:ext cx="4023360" cy="11430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82127" y="4645152"/>
            <a:ext cx="362102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E2761"/>
                </a:solidFill>
                <a:latin typeface="Consolas"/>
              </a:rPr>
              <a:t>UQ(sala, horário, semestre)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sala não recebe duas turmas simultâneas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Regra que constraint não alcança → trigger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"Mesmo período no mesmo horário" depende de OUTRA tabela (o período está em disciplina)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7223760" cy="45720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64592" bIns="109728" rtlCol="0" anchor="t"/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CREATE TRIGGER trg_valida_periodo_horario ON alocacao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AFTER INSERT, UPDATE AS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BEGIN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IF EXISTS (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SELECT 1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FROM inserted i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JOIN disciplina di ON di.id_disciplina = i.id_disciplina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JOIN alocacao a    ON a.id_horario  = i.id_horario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                  AND a.id_semestre = i.id_semestre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                  AND a.id_alocacao &lt;&gt; i.id_alocacao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JOIN disciplina da ON da.id_disciplina = a.id_disciplina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WHERE da.id_periodo = di.id_periodo )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BEGIN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RAISERROR ('Conflito: ja existe disciplina do mesmo periodo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            alocada neste horario.', 16, 1);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    ROLLBACK TRANSACTION;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   END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END;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0" y="2011680"/>
            <a:ext cx="36576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1E2761"/>
                </a:solidFill>
                <a:latin typeface="Calibri"/>
              </a:rPr>
              <a:t>Defesa em camadas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A aplicação valida e dá mensagens amigáveis ao usuário.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212121"/>
                </a:solidFill>
                <a:latin typeface="Calibri"/>
              </a:rPr>
              <a:t>O SGBD garante a integridade mesmo em acesso direto pelo SSMS: constraints + 2 triggers.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2º trigger: trg_valida_habilitacao — só professor habilitado pode ser alocado.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Consultas SQL: 12 consultas + 2 visões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Todas com no mínimo 3 tabelas · todas executadas e validadas com dados de teste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20240"/>
            <a:ext cx="2148840" cy="329184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E2761"/>
                </a:solidFill>
                <a:latin typeface="Georgia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0632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Junções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566160"/>
            <a:ext cx="18196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grade completa (8 tabelas) e disciplinas por aluno (7 tabelas)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8064" y="1920240"/>
            <a:ext cx="2148840" cy="329184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89504" y="21488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E2761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9504" y="30632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Conjuntos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3566160"/>
            <a:ext cx="18196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UNION, INTERSECT e EXCEPT — vínculos, habilitados alocados, capacidade ociosa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3208" y="1920240"/>
            <a:ext cx="2148840" cy="329184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84648" y="21488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E2761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4648" y="30632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Agregações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566160"/>
            <a:ext cx="18196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SUM, COUNT, MAX, MIN, AVG — duas com GROUP BY + HAVING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1920240"/>
            <a:ext cx="2148840" cy="329184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9792" y="21488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E2761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0632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Operadores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3566160"/>
            <a:ext cx="18196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LIKE '%Dados%', BETWEEN datas de admissão, IN ('SEG','SEX')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83496" y="1920240"/>
            <a:ext cx="2148840" cy="3291840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774936" y="2148840"/>
            <a:ext cx="1965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400" b="1">
                <a:solidFill>
                  <a:srgbClr val="1E2761"/>
                </a:solidFill>
                <a:latin typeface="Georg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4936" y="306324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212121"/>
                </a:solidFill>
                <a:latin typeface="Calibri"/>
              </a:rPr>
              <a:t>Visões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48088" y="3566160"/>
            <a:ext cx="1819656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5A5A5A"/>
                </a:solidFill>
                <a:latin typeface="Calibri"/>
              </a:rPr>
              <a:t>vw_grade_horarios (9 tabelas) e vw_carga_professores (5 tabelas)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E6B2C"/>
                </a:solidFill>
                <a:latin typeface="Calibri"/>
              </a:rPr>
              <a:t>Resultado dos testes: 14/14 consultas executadas com sucesso, todas com resultados não vazios.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Exemplo: EXCEPT revela a capacidade ociosa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C3 — pares (professor, disciplina) habilitados mas não alocados no semestre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6766560" cy="393192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64592" bIns="109728" rtlCol="0" anchor="t"/>
          <a:lstStyle/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SELECT u.nome AS professor, d.codigo AS disciplina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FROM usuario u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JOIN professor pr            ON pr.id_usuario   = u.id_usuario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JOIN professor_disciplina pd ON pd.id_professor = pr.id_professor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JOIN disciplina d            ON d.id_disciplina = pd.id_disciplina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EXCEPT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SELECT u.nome, d.codigo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FROM usuario u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JOIN professor pr ON pr.id_usuario   = u.id_usuario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JOIN alocacao a   ON a.id_professor  = pr.id_professor</a:t>
            </a:r>
          </a:p>
          <a:p>
            <a:pPr algn="l">
              <a:spcAft>
                <a:spcPts val="0"/>
              </a:spcAft>
            </a:pPr>
            <a:r>
              <a:rPr sz="1200">
                <a:solidFill>
                  <a:srgbClr val="212121"/>
                </a:solidFill>
                <a:latin typeface="Consolas"/>
              </a:rPr>
              <a:t>JOIN disciplina d ON d.id_disciplina = a.id_disciplina;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2011680"/>
            <a:ext cx="4023360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Como funciona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1º bloco: todas as habilitações (quem PODE ministrar o quê).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2º bloco: alocações efetivas (quem ministra).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EXCEPT devolve a diferença: habilitações não usadas → 5 pares no teste. Útil para substituições e planejamento.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5A5A5A"/>
                </a:solidFill>
                <a:latin typeface="Calibri"/>
              </a:rPr>
              <a:t>5 tabelas envolvidas · comparação por tupla inteira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Algoritmo: alocação como coloração de grafos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Disciplinas = vértices · conflito (mesmo período OU mesmo professor) = aresta · horário = cor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6309360" cy="420624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64592" bIns="109728" rtlCol="0" anchor="t"/>
          <a:lstStyle/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// Fase 1 - professores (guloso por restritividade)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ordenar disciplinas por nº de habilitados (crescente)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para cada disciplina: prof &lt;- habilitado com menor carga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// Fase 2 - grafo de conflitos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aresta {d1,d2} se periodo(d1)=periodo(d2)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             ou prof(d1)=prof(d2)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// Fase 3 - coloracao (Welsh-Powell)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ordenar vertices por grau (decrescente)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para cada vertice: menor cor livre entre vizinhos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// Fase 4 - salas</a:t>
            </a:r>
          </a:p>
          <a:p>
            <a:pPr algn="l">
              <a:spcAft>
                <a:spcPts val="0"/>
              </a:spcAft>
            </a:pPr>
            <a:r>
              <a:rPr sz="1300">
                <a:solidFill>
                  <a:srgbClr val="212121"/>
                </a:solidFill>
                <a:latin typeface="Consolas"/>
              </a:rPr>
              <a:t>em cada slot, uma sala distinta por disciplina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78040" y="1965960"/>
            <a:ext cx="448056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Por que guloso?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Coloração mínima é NP-difícil; Welsh-Powell roda em O(V²) e produz ótimas soluções na prática.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Por que atribuir professor antes?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As arestas docentes dependem de quem ministra. Balancear a carga reduz arestas → favorece o paralelismo.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Calibri"/>
              </a:rPr>
              <a:t>Coloração válida = grade sem conflitos. Menos cores = mais disciplinas em paralelo.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Resultados: ótimo teórico atingido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Georgia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disciplinas alocadas
(5 períodos ×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8288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Georgia"/>
              </a:rPr>
              <a:t>5/10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6974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horários usados
(limite inferior =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Georgia"/>
              </a:rPr>
              <a:t>4,0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974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disciplinas em paralelo
(média por horário)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2880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E2761"/>
                </a:solidFill>
                <a:latin typeface="Georg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6974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restrições violadas
(verificação automática)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977639"/>
            <a:ext cx="9418320" cy="182880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Ins="164592" bIns="109728" rtlCol="0" anchor="t"/>
          <a:lstStyle/>
          <a:p>
            <a:pPr algn="l">
              <a:spcAft>
                <a:spcPts val="0"/>
              </a:spcAft>
            </a:pPr>
            <a:r>
              <a:rPr sz="1400">
                <a:solidFill>
                  <a:srgbClr val="212121"/>
                </a:solidFill>
                <a:latin typeface="Consolas"/>
              </a:rPr>
              <a:t>SEG 19:00  P1 IADS     P2 BD1      P3 ENG1     P5 NUV1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212121"/>
                </a:solidFill>
                <a:latin typeface="Consolas"/>
              </a:rPr>
              <a:t>SEG 20:55  P1 ALG1     P2 ALG2     P3 BD2      P4 MOB1     P5 TI1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212121"/>
                </a:solidFill>
                <a:latin typeface="Consolas"/>
              </a:rPr>
              <a:t>TER 19:00  P1 LOG1     P2 POO1     P3 WEB1     P4 GPR1     P5 IA1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212121"/>
                </a:solidFill>
                <a:latin typeface="Consolas"/>
              </a:rPr>
              <a:t>TER 20:55  P1 MTD1     P3 SO1      P4 RED1     P5 TOP1</a:t>
            </a:r>
          </a:p>
          <a:p>
            <a:pPr algn="l">
              <a:spcAft>
                <a:spcPts val="0"/>
              </a:spcAft>
            </a:pPr>
            <a:r>
              <a:rPr sz="1400">
                <a:solidFill>
                  <a:srgbClr val="212121"/>
                </a:solidFill>
                <a:latin typeface="Consolas"/>
              </a:rPr>
              <a:t>QUA 19:00  P2 ARC1     P4 SEG1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50" b="0">
                <a:solidFill>
                  <a:srgbClr val="5A5A5A"/>
                </a:solidFill>
                <a:latin typeface="Calibri"/>
              </a:rPr>
              <a:t>O grafo contém cliques de tamanho 5 → pelo menos 5 horários são necessários. O algoritmo usou exatamente 5.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100" b="1">
                <a:solidFill>
                  <a:srgbClr val="1E2761"/>
                </a:solidFill>
                <a:latin typeface="Georgia"/>
              </a:rPr>
              <a:t>Aplicação web: 4 funcionalidades sobre o banco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Python + Flask + pyodbc → SQL Server · consultas 100% parametrizadas (sem SQL Injection)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75104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E2761"/>
                </a:solidFill>
                <a:latin typeface="Calibri"/>
              </a:rPr>
              <a:t>F1 · Cadastro de usuários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975104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validação no código: e-mail, senha mínima, login único — antes do INSERT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44368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E2761"/>
                </a:solidFill>
                <a:latin typeface="Calibri"/>
              </a:rPr>
              <a:t>F2 · Autenticação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090672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login/senha verificados no banco; sessão Flask protege todas as rotas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059936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F2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E2761"/>
                </a:solidFill>
                <a:latin typeface="Calibri"/>
              </a:rPr>
              <a:t>F3 · Habilitações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20624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manutenção do N:M professor × disciplina, com checagem de duplicidade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175504"/>
            <a:ext cx="10881360" cy="987552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321808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1E2761"/>
                </a:solidFill>
                <a:latin typeface="Calibri"/>
              </a:rPr>
              <a:t>F4 · Geração da grade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321808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algoritmo aciona DELETE + 20 INSERTs em transação atômica; exibição via vw_grade_horarios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2296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Georgia"/>
              </a:rPr>
              <a:t>Conclusão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63040" y="2011680"/>
            <a:ext cx="9235440" cy="1143000"/>
          </a:xfrm>
          <a:prstGeom prst="roundRect">
            <a:avLst>
              <a:gd name="adj" fmla="val 6000"/>
            </a:avLst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83080" y="214884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CADCFC"/>
                </a:solidFill>
                <a:latin typeface="Calibri"/>
              </a:rPr>
              <a:t>Modelar formalmente simplifica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214884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enxergar a grade como coloração de grafos transformou uma exigência complexa em um algoritmo simples e verificável.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337560"/>
            <a:ext cx="9235440" cy="1143000"/>
          </a:xfrm>
          <a:prstGeom prst="roundRect">
            <a:avLst>
              <a:gd name="adj" fmla="val 6000"/>
            </a:avLst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83080" y="347472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CADCFC"/>
                </a:solidFill>
                <a:latin typeface="Calibri"/>
              </a:rPr>
              <a:t>Regras de negócio no esquema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347472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UNIQUEs e triggers garantem integridade mesmo fora da aplicação — o banco se defende sozinho.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663440"/>
            <a:ext cx="9235440" cy="1143000"/>
          </a:xfrm>
          <a:prstGeom prst="roundRect">
            <a:avLst>
              <a:gd name="adj" fmla="val 6000"/>
            </a:avLst>
          </a:prstGeom>
          <a:solidFill>
            <a:srgbClr val="2A3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480060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CADCFC"/>
                </a:solidFill>
                <a:latin typeface="Calibri"/>
              </a:rPr>
              <a:t>Visões encapsulam complexidade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4800600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junções de até 9 tabelas viraram consultas de uma linha na aplicação.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1786</Words>
  <Application>Microsoft Office PowerPoint</Application>
  <PresentationFormat>Widescreen</PresentationFormat>
  <Paragraphs>198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Matheus Filipe de Deus Silva</cp:lastModifiedBy>
  <cp:revision>2</cp:revision>
  <dcterms:created xsi:type="dcterms:W3CDTF">2013-01-27T09:14:16Z</dcterms:created>
  <dcterms:modified xsi:type="dcterms:W3CDTF">2026-06-11T04:14:01Z</dcterms:modified>
  <cp:category/>
</cp:coreProperties>
</file>