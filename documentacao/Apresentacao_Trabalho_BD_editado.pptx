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D70EFE8-6B4B-4638-AB36-A1AF06C0E73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4F216BA-7DCF-4CCD-B804-BBBEE76FFF4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577F85B-08AF-413F-A47E-8734AFEF95E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537A1C8-AB77-4C72-9B3C-FF8A2FDFD35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936A791-A0CB-483F-B3D6-5BDBBBF4294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88F0330-EB23-4A24-A97A-6C64EA63F62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E3E174D-4A15-4B98-B28F-5302598E49A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BEDF3D0-C2C4-4BD7-BF07-4B6DE4B2252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FA871B0-73EC-4830-AA86-EDF39C763F4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do texto do título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61D7170-9FAC-44C6-895A-DB5E8A5CAD6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A9F4596-AD0F-4334-836D-DDE8CE5EE01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1"/>
          <p:cNvSpPr/>
          <p:nvPr/>
        </p:nvSpPr>
        <p:spPr>
          <a:xfrm>
            <a:off x="914400" y="1828800"/>
            <a:ext cx="1033236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Georgia"/>
              </a:rPr>
              <a:t>Sistema de Gestão de Horários de Disciplinas</a:t>
            </a:r>
            <a:endParaRPr lang="pt-BR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Box 2"/>
          <p:cNvSpPr/>
          <p:nvPr/>
        </p:nvSpPr>
        <p:spPr>
          <a:xfrm>
            <a:off x="914400" y="3246120"/>
            <a:ext cx="10332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Modelagem e implementação de banco de dados para alocação de horários do curso de ADS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914400" y="5120640"/>
            <a:ext cx="10332360" cy="47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Trabalho Final — Banco de Dados — 1/2026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3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PUC Minas · ICEI · </a:t>
            </a:r>
            <a:r>
              <a:rPr lang="pt-BR" sz="13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Sistemas de Informação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Box 1"/>
          <p:cNvSpPr/>
          <p:nvPr/>
        </p:nvSpPr>
        <p:spPr>
          <a:xfrm>
            <a:off x="548640" y="384120"/>
            <a:ext cx="110638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3100" b="1" u="none" strike="noStrike">
                <a:solidFill>
                  <a:srgbClr val="1e2761"/>
                </a:solidFill>
                <a:effectLst/>
                <a:uFillTx/>
                <a:latin typeface="Georgia"/>
              </a:rPr>
              <a:t>O problema: montar a grade de horários do ADS</a:t>
            </a:r>
            <a:endParaRPr lang="pt-BR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2"/>
          <p:cNvSpPr/>
          <p:nvPr/>
        </p:nvSpPr>
        <p:spPr>
          <a:xfrm>
            <a:off x="548640" y="102420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5a5a5a"/>
                </a:solidFill>
                <a:effectLst/>
                <a:uFillTx/>
                <a:latin typeface="Calibri"/>
              </a:rPr>
              <a:t>Um problema clássico de alocação de recursos com restrições (timetabling)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Oval 3"/>
          <p:cNvSpPr/>
          <p:nvPr/>
        </p:nvSpPr>
        <p:spPr>
          <a:xfrm>
            <a:off x="640080" y="1691640"/>
            <a:ext cx="383760" cy="383760"/>
          </a:xfrm>
          <a:prstGeom prst="ellipse">
            <a:avLst/>
          </a:prstGeom>
          <a:solidFill>
            <a:srgbClr val="1e276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4"/>
          <p:cNvSpPr/>
          <p:nvPr/>
        </p:nvSpPr>
        <p:spPr>
          <a:xfrm>
            <a:off x="1234440" y="1654920"/>
            <a:ext cx="56689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6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1 professor por disciplina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350" b="0" u="none" strike="noStrike">
                <a:solidFill>
                  <a:srgbClr val="5a5a5a"/>
                </a:solidFill>
                <a:effectLst/>
                <a:uFillTx/>
                <a:latin typeface="Calibri"/>
              </a:rPr>
              <a:t>cada disciplina é ministrada por exatamente um professor habilitado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Oval 5"/>
          <p:cNvSpPr/>
          <p:nvPr/>
        </p:nvSpPr>
        <p:spPr>
          <a:xfrm>
            <a:off x="640080" y="2651760"/>
            <a:ext cx="383760" cy="383760"/>
          </a:xfrm>
          <a:prstGeom prst="ellipse">
            <a:avLst/>
          </a:prstGeom>
          <a:solidFill>
            <a:srgbClr val="1e276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6"/>
          <p:cNvSpPr/>
          <p:nvPr/>
        </p:nvSpPr>
        <p:spPr>
          <a:xfrm>
            <a:off x="1234440" y="2615040"/>
            <a:ext cx="56689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6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Sem choque de período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350" b="0" u="none" strike="noStrike">
                <a:solidFill>
                  <a:srgbClr val="5a5a5a"/>
                </a:solidFill>
                <a:effectLst/>
                <a:uFillTx/>
                <a:latin typeface="Calibri"/>
              </a:rPr>
              <a:t>disciplinas do mesmo período não podem ocupar o mesmo horário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Oval 7"/>
          <p:cNvSpPr/>
          <p:nvPr/>
        </p:nvSpPr>
        <p:spPr>
          <a:xfrm>
            <a:off x="640080" y="3611880"/>
            <a:ext cx="383760" cy="383760"/>
          </a:xfrm>
          <a:prstGeom prst="ellipse">
            <a:avLst/>
          </a:prstGeom>
          <a:solidFill>
            <a:srgbClr val="1e276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8"/>
          <p:cNvSpPr/>
          <p:nvPr/>
        </p:nvSpPr>
        <p:spPr>
          <a:xfrm>
            <a:off x="1234440" y="3575160"/>
            <a:ext cx="56689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6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Professor sem ubiquidade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350" b="0" u="none" strike="noStrike">
                <a:solidFill>
                  <a:srgbClr val="5a5a5a"/>
                </a:solidFill>
                <a:effectLst/>
                <a:uFillTx/>
                <a:latin typeface="Calibri"/>
              </a:rPr>
              <a:t>um professor não pode estar em duas salas ao mesmo tempo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Oval 9"/>
          <p:cNvSpPr/>
          <p:nvPr/>
        </p:nvSpPr>
        <p:spPr>
          <a:xfrm>
            <a:off x="640080" y="4572000"/>
            <a:ext cx="383760" cy="383760"/>
          </a:xfrm>
          <a:prstGeom prst="ellipse">
            <a:avLst/>
          </a:prstGeom>
          <a:solidFill>
            <a:srgbClr val="1e276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4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10"/>
          <p:cNvSpPr/>
          <p:nvPr/>
        </p:nvSpPr>
        <p:spPr>
          <a:xfrm>
            <a:off x="1234440" y="4535280"/>
            <a:ext cx="56689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6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2 horários por dia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350" b="0" u="none" strike="noStrike">
                <a:solidFill>
                  <a:srgbClr val="5a5a5a"/>
                </a:solidFill>
                <a:effectLst/>
                <a:uFillTx/>
                <a:latin typeface="Calibri"/>
              </a:rPr>
              <a:t>5 dias × 2 slots = apenas 10 horários disponíveis na semana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Rounded Rectangle 11"/>
          <p:cNvSpPr/>
          <p:nvPr/>
        </p:nvSpPr>
        <p:spPr>
          <a:xfrm>
            <a:off x="7406640" y="1737360"/>
            <a:ext cx="4114440" cy="3565800"/>
          </a:xfrm>
          <a:prstGeom prst="roundRect">
            <a:avLst>
              <a:gd name="adj" fmla="val 6000"/>
            </a:avLst>
          </a:prstGeom>
          <a:solidFill>
            <a:srgbClr val="f2f4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" name="TextBox 12"/>
          <p:cNvSpPr/>
          <p:nvPr/>
        </p:nvSpPr>
        <p:spPr>
          <a:xfrm>
            <a:off x="7406640" y="2057400"/>
            <a:ext cx="4114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OBJETIVO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13"/>
          <p:cNvSpPr/>
          <p:nvPr/>
        </p:nvSpPr>
        <p:spPr>
          <a:xfrm>
            <a:off x="7635240" y="2560320"/>
            <a:ext cx="365724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Maximizar o número de disciplinas em paralelo — compactar a grade aproveitando ao máximo cada horário, sem violar nenhuma restrição.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14"/>
          <p:cNvSpPr/>
          <p:nvPr/>
        </p:nvSpPr>
        <p:spPr>
          <a:xfrm>
            <a:off x="7635240" y="4206240"/>
            <a:ext cx="3657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300" b="0" u="none" strike="noStrike">
                <a:solidFill>
                  <a:srgbClr val="5a5a5a"/>
                </a:solidFill>
                <a:effectLst/>
                <a:uFillTx/>
                <a:latin typeface="Calibri"/>
              </a:rPr>
              <a:t>20 disciplinas · 8 professores · 6 salas · 10 horários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Box 1"/>
          <p:cNvSpPr/>
          <p:nvPr/>
        </p:nvSpPr>
        <p:spPr>
          <a:xfrm>
            <a:off x="548640" y="384120"/>
            <a:ext cx="110638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3100" b="1" u="none" strike="noStrike">
                <a:solidFill>
                  <a:srgbClr val="1e2761"/>
                </a:solidFill>
                <a:effectLst/>
                <a:uFillTx/>
                <a:latin typeface="Georgia"/>
              </a:rPr>
              <a:t>Linhas gerais da solução</a:t>
            </a:r>
            <a:endParaRPr lang="pt-BR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Rounded Rectangle 2"/>
          <p:cNvSpPr/>
          <p:nvPr/>
        </p:nvSpPr>
        <p:spPr>
          <a:xfrm>
            <a:off x="502920" y="2103120"/>
            <a:ext cx="2148480" cy="2285640"/>
          </a:xfrm>
          <a:prstGeom prst="roundRect">
            <a:avLst>
              <a:gd name="adj" fmla="val 6000"/>
            </a:avLst>
          </a:prstGeom>
          <a:solidFill>
            <a:srgbClr val="f2f4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Oval 3"/>
          <p:cNvSpPr/>
          <p:nvPr/>
        </p:nvSpPr>
        <p:spPr>
          <a:xfrm>
            <a:off x="1385280" y="2395800"/>
            <a:ext cx="383760" cy="383760"/>
          </a:xfrm>
          <a:prstGeom prst="ellipse">
            <a:avLst/>
          </a:prstGeom>
          <a:solidFill>
            <a:srgbClr val="1e276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4"/>
          <p:cNvSpPr/>
          <p:nvPr/>
        </p:nvSpPr>
        <p:spPr>
          <a:xfrm>
            <a:off x="612720" y="3017520"/>
            <a:ext cx="19288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45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Modelagem conceitual</a:t>
            </a:r>
            <a:endParaRPr lang="pt-BR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5"/>
          <p:cNvSpPr/>
          <p:nvPr/>
        </p:nvSpPr>
        <p:spPr>
          <a:xfrm>
            <a:off x="631080" y="3657600"/>
            <a:ext cx="18925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150" b="0" u="none" strike="noStrike">
                <a:solidFill>
                  <a:srgbClr val="5a5a5a"/>
                </a:solidFill>
                <a:effectLst/>
                <a:uFillTx/>
                <a:latin typeface="Calibri"/>
              </a:rPr>
              <a:t>DER com 12 entidades + diagrama de classes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Rounded Rectangle 6"/>
          <p:cNvSpPr/>
          <p:nvPr/>
        </p:nvSpPr>
        <p:spPr>
          <a:xfrm>
            <a:off x="2797920" y="2103120"/>
            <a:ext cx="2148480" cy="2285640"/>
          </a:xfrm>
          <a:prstGeom prst="roundRect">
            <a:avLst>
              <a:gd name="adj" fmla="val 6000"/>
            </a:avLst>
          </a:prstGeom>
          <a:solidFill>
            <a:srgbClr val="cadc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" name="Oval 7"/>
          <p:cNvSpPr/>
          <p:nvPr/>
        </p:nvSpPr>
        <p:spPr>
          <a:xfrm>
            <a:off x="3680640" y="2395800"/>
            <a:ext cx="383760" cy="383760"/>
          </a:xfrm>
          <a:prstGeom prst="ellipse">
            <a:avLst/>
          </a:prstGeom>
          <a:solidFill>
            <a:srgbClr val="1e276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8"/>
          <p:cNvSpPr/>
          <p:nvPr/>
        </p:nvSpPr>
        <p:spPr>
          <a:xfrm>
            <a:off x="2907720" y="3017520"/>
            <a:ext cx="19288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45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Modelo lógico</a:t>
            </a:r>
            <a:endParaRPr lang="pt-BR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9"/>
          <p:cNvSpPr/>
          <p:nvPr/>
        </p:nvSpPr>
        <p:spPr>
          <a:xfrm>
            <a:off x="2926080" y="3657600"/>
            <a:ext cx="18925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150" b="0" u="none" strike="noStrike">
                <a:solidFill>
                  <a:srgbClr val="5a5a5a"/>
                </a:solidFill>
                <a:effectLst/>
                <a:uFillTx/>
                <a:latin typeface="Calibri"/>
              </a:rPr>
              <a:t>13 tabelas normalizadas (3FN)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Rounded Rectangle 10"/>
          <p:cNvSpPr/>
          <p:nvPr/>
        </p:nvSpPr>
        <p:spPr>
          <a:xfrm>
            <a:off x="5093280" y="2103120"/>
            <a:ext cx="2148480" cy="2285640"/>
          </a:xfrm>
          <a:prstGeom prst="roundRect">
            <a:avLst>
              <a:gd name="adj" fmla="val 6000"/>
            </a:avLst>
          </a:prstGeom>
          <a:solidFill>
            <a:srgbClr val="f2f4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" name="Oval 11"/>
          <p:cNvSpPr/>
          <p:nvPr/>
        </p:nvSpPr>
        <p:spPr>
          <a:xfrm>
            <a:off x="5975640" y="2395800"/>
            <a:ext cx="383760" cy="383760"/>
          </a:xfrm>
          <a:prstGeom prst="ellipse">
            <a:avLst/>
          </a:prstGeom>
          <a:solidFill>
            <a:srgbClr val="1e276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12"/>
          <p:cNvSpPr/>
          <p:nvPr/>
        </p:nvSpPr>
        <p:spPr>
          <a:xfrm>
            <a:off x="5203080" y="3017520"/>
            <a:ext cx="19288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45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Modelo físico</a:t>
            </a:r>
            <a:endParaRPr lang="pt-BR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13"/>
          <p:cNvSpPr/>
          <p:nvPr/>
        </p:nvSpPr>
        <p:spPr>
          <a:xfrm>
            <a:off x="5221080" y="3657600"/>
            <a:ext cx="18925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150" b="0" u="none" strike="noStrike">
                <a:solidFill>
                  <a:srgbClr val="5a5a5a"/>
                </a:solidFill>
                <a:effectLst/>
                <a:uFillTx/>
                <a:latin typeface="Calibri"/>
              </a:rPr>
              <a:t>DDL T-SQL: PKs, FKs, UNIQUE, CHECK e 2 triggers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Rounded Rectangle 14"/>
          <p:cNvSpPr/>
          <p:nvPr/>
        </p:nvSpPr>
        <p:spPr>
          <a:xfrm>
            <a:off x="7388280" y="2103120"/>
            <a:ext cx="2148480" cy="2285640"/>
          </a:xfrm>
          <a:prstGeom prst="roundRect">
            <a:avLst>
              <a:gd name="adj" fmla="val 6000"/>
            </a:avLst>
          </a:prstGeom>
          <a:solidFill>
            <a:srgbClr val="cadc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" name="Oval 15"/>
          <p:cNvSpPr/>
          <p:nvPr/>
        </p:nvSpPr>
        <p:spPr>
          <a:xfrm>
            <a:off x="8270640" y="2395800"/>
            <a:ext cx="383760" cy="383760"/>
          </a:xfrm>
          <a:prstGeom prst="ellipse">
            <a:avLst/>
          </a:prstGeom>
          <a:solidFill>
            <a:srgbClr val="1e276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4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16"/>
          <p:cNvSpPr/>
          <p:nvPr/>
        </p:nvSpPr>
        <p:spPr>
          <a:xfrm>
            <a:off x="7498080" y="3017520"/>
            <a:ext cx="19288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45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Consultas SQL</a:t>
            </a:r>
            <a:endParaRPr lang="pt-BR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17"/>
          <p:cNvSpPr/>
          <p:nvPr/>
        </p:nvSpPr>
        <p:spPr>
          <a:xfrm>
            <a:off x="7516440" y="3657600"/>
            <a:ext cx="18925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150" b="0" u="none" strike="noStrike">
                <a:solidFill>
                  <a:srgbClr val="5a5a5a"/>
                </a:solidFill>
                <a:effectLst/>
                <a:uFillTx/>
                <a:latin typeface="Calibri"/>
              </a:rPr>
              <a:t>12 consultas + 2 visões (≥ 3 tabelas cada)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Rounded Rectangle 18"/>
          <p:cNvSpPr/>
          <p:nvPr/>
        </p:nvSpPr>
        <p:spPr>
          <a:xfrm>
            <a:off x="9683640" y="2103120"/>
            <a:ext cx="2148480" cy="2285640"/>
          </a:xfrm>
          <a:prstGeom prst="roundRect">
            <a:avLst>
              <a:gd name="adj" fmla="val 6000"/>
            </a:avLst>
          </a:prstGeom>
          <a:solidFill>
            <a:srgbClr val="f2f4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6" name="Oval 19"/>
          <p:cNvSpPr/>
          <p:nvPr/>
        </p:nvSpPr>
        <p:spPr>
          <a:xfrm>
            <a:off x="10566000" y="2395800"/>
            <a:ext cx="383760" cy="383760"/>
          </a:xfrm>
          <a:prstGeom prst="ellipse">
            <a:avLst/>
          </a:prstGeom>
          <a:solidFill>
            <a:srgbClr val="1e276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5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20"/>
          <p:cNvSpPr/>
          <p:nvPr/>
        </p:nvSpPr>
        <p:spPr>
          <a:xfrm>
            <a:off x="9793080" y="3017520"/>
            <a:ext cx="19288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45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Algoritmo + aplicação</a:t>
            </a:r>
            <a:endParaRPr lang="pt-BR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21"/>
          <p:cNvSpPr/>
          <p:nvPr/>
        </p:nvSpPr>
        <p:spPr>
          <a:xfrm>
            <a:off x="9811440" y="3657600"/>
            <a:ext cx="18925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150" b="0" u="none" strike="noStrike">
                <a:solidFill>
                  <a:srgbClr val="5a5a5a"/>
                </a:solidFill>
                <a:effectLst/>
                <a:uFillTx/>
                <a:latin typeface="Calibri"/>
              </a:rPr>
              <a:t>coloração de grafos + Flask conectado ao SQL Server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22"/>
          <p:cNvSpPr/>
          <p:nvPr/>
        </p:nvSpPr>
        <p:spPr>
          <a:xfrm>
            <a:off x="548640" y="5029200"/>
            <a:ext cx="11063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5a5a5a"/>
                </a:solidFill>
                <a:effectLst/>
                <a:uFillTx/>
                <a:latin typeface="Calibri"/>
              </a:rPr>
              <a:t>SGBD: Microsoft SQL Server   ·   Aplicação: Python + Flask + pyodbc   ·   Interface: HTML/Jinja2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Box 1"/>
          <p:cNvSpPr/>
          <p:nvPr/>
        </p:nvSpPr>
        <p:spPr>
          <a:xfrm>
            <a:off x="548640" y="384120"/>
            <a:ext cx="110638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3100" b="1" u="none" strike="noStrike">
                <a:solidFill>
                  <a:srgbClr val="1e2761"/>
                </a:solidFill>
                <a:effectLst/>
                <a:uFillTx/>
                <a:latin typeface="Georgia"/>
              </a:rPr>
              <a:t>Modelagem conceitual — DER</a:t>
            </a:r>
            <a:endParaRPr lang="pt-BR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1" name="Picture 2" descr="DER.png"/>
          <p:cNvPicPr/>
          <p:nvPr/>
        </p:nvPicPr>
        <p:blipFill>
          <a:blip r:embed="rId1"/>
          <a:stretch/>
        </p:blipFill>
        <p:spPr>
          <a:xfrm>
            <a:off x="365760" y="1920240"/>
            <a:ext cx="11429640" cy="272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" name="TextBox 3"/>
          <p:cNvSpPr/>
          <p:nvPr/>
        </p:nvSpPr>
        <p:spPr>
          <a:xfrm>
            <a:off x="548640" y="5120640"/>
            <a:ext cx="1106388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5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ALOCACAO é o núcleo do modelo: entidade associativa que liga DISCIPLINA, PROFESSOR, HORARIO, SALA e SEMESTRE_LETIVO — representa uma "aula publicada" na grade.</a:t>
            </a:r>
            <a:endParaRPr lang="pt-BR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300" b="0" u="none" strike="noStrike">
                <a:solidFill>
                  <a:srgbClr val="5a5a5a"/>
                </a:solidFill>
                <a:effectLst/>
                <a:uFillTx/>
                <a:latin typeface="Calibri"/>
              </a:rPr>
              <a:t>USUARIO generaliza PROFESSOR e ALUNO (especializações 1:1) · HORARIO pertence a um DIA_SEMANA com slot 1 ou 2 (regra dos 2 horários/dia).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Box 15"/>
          <p:cNvSpPr/>
          <p:nvPr/>
        </p:nvSpPr>
        <p:spPr>
          <a:xfrm>
            <a:off x="548640" y="384120"/>
            <a:ext cx="11063880" cy="47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3100" b="1" u="none" strike="noStrike">
                <a:solidFill>
                  <a:srgbClr val="1e2761"/>
                </a:solidFill>
                <a:effectLst/>
                <a:uFillTx/>
                <a:latin typeface="Georgia"/>
              </a:rPr>
              <a:t>Diagrama de Classes</a:t>
            </a:r>
            <a:endParaRPr lang="pt-BR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4" name=""/>
          <p:cNvPicPr/>
          <p:nvPr/>
        </p:nvPicPr>
        <p:blipFill>
          <a:blip r:embed="rId1"/>
          <a:stretch/>
        </p:blipFill>
        <p:spPr>
          <a:xfrm>
            <a:off x="900000" y="981360"/>
            <a:ext cx="10080000" cy="5521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Box 1"/>
          <p:cNvSpPr/>
          <p:nvPr/>
        </p:nvSpPr>
        <p:spPr>
          <a:xfrm>
            <a:off x="548640" y="384120"/>
            <a:ext cx="110638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3100" b="1" u="none" strike="noStrike">
                <a:solidFill>
                  <a:srgbClr val="1e2761"/>
                </a:solidFill>
                <a:effectLst/>
                <a:uFillTx/>
                <a:latin typeface="Georgia"/>
              </a:rPr>
              <a:t>Qualidade da modelagem: 3 decisões centrais</a:t>
            </a:r>
            <a:endParaRPr lang="pt-BR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Rounded Rectangle 2"/>
          <p:cNvSpPr/>
          <p:nvPr/>
        </p:nvSpPr>
        <p:spPr>
          <a:xfrm>
            <a:off x="502920" y="1783080"/>
            <a:ext cx="3702960" cy="4023000"/>
          </a:xfrm>
          <a:prstGeom prst="roundRect">
            <a:avLst>
              <a:gd name="adj" fmla="val 6000"/>
            </a:avLst>
          </a:prstGeom>
          <a:solidFill>
            <a:srgbClr val="f2f4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7" name="TextBox 3"/>
          <p:cNvSpPr/>
          <p:nvPr/>
        </p:nvSpPr>
        <p:spPr>
          <a:xfrm>
            <a:off x="731520" y="2057400"/>
            <a:ext cx="32457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Habilitação ≠ Alocação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Box 4"/>
          <p:cNvSpPr/>
          <p:nvPr/>
        </p:nvSpPr>
        <p:spPr>
          <a:xfrm>
            <a:off x="731520" y="2880360"/>
            <a:ext cx="324576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  <a:spcAft>
                <a:spcPts val="601"/>
              </a:spcAft>
            </a:pPr>
            <a:r>
              <a:rPr lang="en-US" sz="135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PROFESSOR_DISCIPLINA registra quem PODE ministrar (capacidade, vale sempre). ALOCACAO registra quem MINISTRA, onde e quando (decisão do semestre). Fatos diferentes → tabelas diferentes.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Rounded Rectangle 5"/>
          <p:cNvSpPr/>
          <p:nvPr/>
        </p:nvSpPr>
        <p:spPr>
          <a:xfrm>
            <a:off x="4370760" y="1783080"/>
            <a:ext cx="3702960" cy="4023000"/>
          </a:xfrm>
          <a:prstGeom prst="roundRect">
            <a:avLst>
              <a:gd name="adj" fmla="val 6000"/>
            </a:avLst>
          </a:prstGeom>
          <a:solidFill>
            <a:srgbClr val="f2f4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" name="TextBox 6"/>
          <p:cNvSpPr/>
          <p:nvPr/>
        </p:nvSpPr>
        <p:spPr>
          <a:xfrm>
            <a:off x="4599360" y="2057400"/>
            <a:ext cx="32457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Herança mapeada com 1:1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7"/>
          <p:cNvSpPr/>
          <p:nvPr/>
        </p:nvSpPr>
        <p:spPr>
          <a:xfrm>
            <a:off x="4599360" y="2880360"/>
            <a:ext cx="324576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  <a:spcAft>
                <a:spcPts val="601"/>
              </a:spcAft>
            </a:pPr>
            <a:r>
              <a:rPr lang="en-US" sz="135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PROFESSOR e ALUNO têm FK com UNIQUE para USUARIO: dados comuns (nome, login, senha) existem uma única vez. Sem redundância, sem anomalias de atualização.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Rounded Rectangle 8"/>
          <p:cNvSpPr/>
          <p:nvPr/>
        </p:nvSpPr>
        <p:spPr>
          <a:xfrm>
            <a:off x="8238600" y="1783080"/>
            <a:ext cx="3702960" cy="4023000"/>
          </a:xfrm>
          <a:prstGeom prst="roundRect">
            <a:avLst>
              <a:gd name="adj" fmla="val 6000"/>
            </a:avLst>
          </a:prstGeom>
          <a:solidFill>
            <a:srgbClr val="f2f4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3" name="TextBox 9"/>
          <p:cNvSpPr/>
          <p:nvPr/>
        </p:nvSpPr>
        <p:spPr>
          <a:xfrm>
            <a:off x="8467200" y="2057400"/>
            <a:ext cx="32457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Restrições viram estrutura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Box 10"/>
          <p:cNvSpPr/>
          <p:nvPr/>
        </p:nvSpPr>
        <p:spPr>
          <a:xfrm>
            <a:off x="8467200" y="2880360"/>
            <a:ext cx="324576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  <a:spcAft>
                <a:spcPts val="601"/>
              </a:spcAft>
            </a:pPr>
            <a:r>
              <a:rPr lang="en-US" sz="135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"2 horários por dia" virou UQ(id_dia, slot) com CHECK slot IN (1,2). "1 professor por disciplina" virou UQ(id_disciplina, id_semestre) em ALOCACAO. A regra de negócio está no esquema, não só no código.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extBox 1"/>
          <p:cNvSpPr/>
          <p:nvPr/>
        </p:nvSpPr>
        <p:spPr>
          <a:xfrm>
            <a:off x="548640" y="384120"/>
            <a:ext cx="110638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3100" b="1" u="none" strike="noStrike">
                <a:solidFill>
                  <a:srgbClr val="1e2761"/>
                </a:solidFill>
                <a:effectLst/>
                <a:uFillTx/>
                <a:latin typeface="Georgia"/>
              </a:rPr>
              <a:t>Aplicação web: 4 funcionalidades sobre o banco</a:t>
            </a:r>
            <a:endParaRPr lang="pt-BR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2"/>
          <p:cNvSpPr/>
          <p:nvPr/>
        </p:nvSpPr>
        <p:spPr>
          <a:xfrm>
            <a:off x="548640" y="1024200"/>
            <a:ext cx="1106388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5a5a5a"/>
                </a:solidFill>
                <a:effectLst/>
                <a:uFillTx/>
                <a:latin typeface="Calibri"/>
              </a:rPr>
              <a:t>Python + Flask + pyodbc → SQL Server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Rounded Rectangle 3"/>
          <p:cNvSpPr/>
          <p:nvPr/>
        </p:nvSpPr>
        <p:spPr>
          <a:xfrm>
            <a:off x="640080" y="1828800"/>
            <a:ext cx="10881000" cy="987120"/>
          </a:xfrm>
          <a:prstGeom prst="roundRect">
            <a:avLst>
              <a:gd name="adj" fmla="val 6000"/>
            </a:avLst>
          </a:prstGeom>
          <a:solidFill>
            <a:srgbClr val="f2f4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" name="TextBox 4"/>
          <p:cNvSpPr/>
          <p:nvPr/>
        </p:nvSpPr>
        <p:spPr>
          <a:xfrm>
            <a:off x="914400" y="1974960"/>
            <a:ext cx="3291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55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F1 · Cadastro de usuários</a:t>
            </a:r>
            <a:endParaRPr lang="pt-BR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Box 5"/>
          <p:cNvSpPr/>
          <p:nvPr/>
        </p:nvSpPr>
        <p:spPr>
          <a:xfrm>
            <a:off x="4389120" y="1974960"/>
            <a:ext cx="69490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35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validação no código: e-mail, senha mínima, login único — antes do INSERT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Rounded Rectangle 6"/>
          <p:cNvSpPr/>
          <p:nvPr/>
        </p:nvSpPr>
        <p:spPr>
          <a:xfrm>
            <a:off x="640080" y="2944440"/>
            <a:ext cx="10881000" cy="987120"/>
          </a:xfrm>
          <a:prstGeom prst="roundRect">
            <a:avLst>
              <a:gd name="adj" fmla="val 6000"/>
            </a:avLst>
          </a:prstGeom>
          <a:solidFill>
            <a:srgbClr val="cadc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1" name="TextBox 7"/>
          <p:cNvSpPr/>
          <p:nvPr/>
        </p:nvSpPr>
        <p:spPr>
          <a:xfrm>
            <a:off x="914400" y="3090600"/>
            <a:ext cx="3291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55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F2 · Autenticação</a:t>
            </a:r>
            <a:endParaRPr lang="pt-BR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Box 8"/>
          <p:cNvSpPr/>
          <p:nvPr/>
        </p:nvSpPr>
        <p:spPr>
          <a:xfrm>
            <a:off x="4389120" y="3090600"/>
            <a:ext cx="694908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35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login/senha verificados no banco;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Rounded Rectangle 9"/>
          <p:cNvSpPr/>
          <p:nvPr/>
        </p:nvSpPr>
        <p:spPr>
          <a:xfrm>
            <a:off x="640080" y="4060080"/>
            <a:ext cx="10881000" cy="987120"/>
          </a:xfrm>
          <a:prstGeom prst="roundRect">
            <a:avLst>
              <a:gd name="adj" fmla="val 6000"/>
            </a:avLst>
          </a:prstGeom>
          <a:solidFill>
            <a:srgbClr val="f2f4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" name="TextBox 10"/>
          <p:cNvSpPr/>
          <p:nvPr/>
        </p:nvSpPr>
        <p:spPr>
          <a:xfrm>
            <a:off x="914400" y="4206240"/>
            <a:ext cx="3291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55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F3 · Habilitações</a:t>
            </a:r>
            <a:endParaRPr lang="pt-BR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Box 11"/>
          <p:cNvSpPr/>
          <p:nvPr/>
        </p:nvSpPr>
        <p:spPr>
          <a:xfrm>
            <a:off x="4389120" y="4206240"/>
            <a:ext cx="69490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35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manutenção do N:M professor × disciplina, com checagem de duplicidade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Rounded Rectangle 12"/>
          <p:cNvSpPr/>
          <p:nvPr/>
        </p:nvSpPr>
        <p:spPr>
          <a:xfrm>
            <a:off x="640080" y="5175360"/>
            <a:ext cx="10881000" cy="987120"/>
          </a:xfrm>
          <a:prstGeom prst="roundRect">
            <a:avLst>
              <a:gd name="adj" fmla="val 6000"/>
            </a:avLst>
          </a:prstGeom>
          <a:solidFill>
            <a:srgbClr val="cadc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" name="TextBox 13"/>
          <p:cNvSpPr/>
          <p:nvPr/>
        </p:nvSpPr>
        <p:spPr>
          <a:xfrm>
            <a:off x="914400" y="5321880"/>
            <a:ext cx="3291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55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F4 · Geração da grade</a:t>
            </a:r>
            <a:endParaRPr lang="pt-BR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Box 14"/>
          <p:cNvSpPr/>
          <p:nvPr/>
        </p:nvSpPr>
        <p:spPr>
          <a:xfrm>
            <a:off x="4389120" y="5321880"/>
            <a:ext cx="694908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35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exibição via vw_grade_horarios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LibreOffice/25.8.6.2$Windows_X86_64 LibreOffice_project/b4b39682cd9868fa725bc664aff94278d315bd04</Application>
  <AppVersion>15.0000</AppVersion>
  <Words>1786</Words>
  <Paragraphs>198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pt-BR</dc:language>
  <cp:lastModifiedBy/>
  <dcterms:modified xsi:type="dcterms:W3CDTF">2026-06-11T09:59:59Z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14</vt:i4>
  </property>
</Properties>
</file>